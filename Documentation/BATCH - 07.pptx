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</p:sldIdLst>
  <p:sldSz cx="12192000" cy="6858000"/>
  <p:notesSz cx="6858000" cy="9144000"/>
  <p:embeddedFontLst>
    <p:embeddedFont>
      <p:font typeface="Arial Narrow" panose="020B0606020202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ECBC7-1377-4D75-B0E1-9FAB6CF17CA9}" v="21" dt="2026-03-15T07:31:24.494"/>
  </p1510:revLst>
</p1510:revInfo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l P" userId="993c10a483e711b2" providerId="LiveId" clId="{BC83A71A-B523-4C8D-996C-4E566256CB7F}"/>
    <pc:docChg chg="undo custSel modSld">
      <pc:chgData name="Raghul P" userId="993c10a483e711b2" providerId="LiveId" clId="{BC83A71A-B523-4C8D-996C-4E566256CB7F}" dt="2026-03-15T07:32:25.617" v="168" actId="14100"/>
      <pc:docMkLst>
        <pc:docMk/>
      </pc:docMkLst>
      <pc:sldChg chg="addSp delSp modSp mod setBg">
        <pc:chgData name="Raghul P" userId="993c10a483e711b2" providerId="LiveId" clId="{BC83A71A-B523-4C8D-996C-4E566256CB7F}" dt="2026-03-15T07:25:28.590" v="76" actId="1076"/>
        <pc:sldMkLst>
          <pc:docMk/>
          <pc:sldMk cId="0" sldId="265"/>
        </pc:sldMkLst>
        <pc:spChg chg="add mod">
          <ac:chgData name="Raghul P" userId="993c10a483e711b2" providerId="LiveId" clId="{BC83A71A-B523-4C8D-996C-4E566256CB7F}" dt="2026-03-15T07:19:05.818" v="2"/>
          <ac:spMkLst>
            <pc:docMk/>
            <pc:sldMk cId="0" sldId="265"/>
            <ac:spMk id="2" creationId="{66668387-D27D-206B-9DFB-B5E859B8E933}"/>
          </ac:spMkLst>
        </pc:spChg>
        <pc:spChg chg="add mod">
          <ac:chgData name="Raghul P" userId="993c10a483e711b2" providerId="LiveId" clId="{BC83A71A-B523-4C8D-996C-4E566256CB7F}" dt="2026-03-15T07:19:23.352" v="4"/>
          <ac:spMkLst>
            <pc:docMk/>
            <pc:sldMk cId="0" sldId="265"/>
            <ac:spMk id="4" creationId="{AB17C5D3-2DB9-82AD-E76A-D95CFBB69054}"/>
          </ac:spMkLst>
        </pc:spChg>
        <pc:spChg chg="add mod">
          <ac:chgData name="Raghul P" userId="993c10a483e711b2" providerId="LiveId" clId="{BC83A71A-B523-4C8D-996C-4E566256CB7F}" dt="2026-03-15T07:25:01.947" v="68"/>
          <ac:spMkLst>
            <pc:docMk/>
            <pc:sldMk cId="0" sldId="265"/>
            <ac:spMk id="7" creationId="{CC5E3709-3F4C-BC13-658C-D0DF41104CF1}"/>
          </ac:spMkLst>
        </pc:spChg>
        <pc:spChg chg="mod">
          <ac:chgData name="Raghul P" userId="993c10a483e711b2" providerId="LiveId" clId="{BC83A71A-B523-4C8D-996C-4E566256CB7F}" dt="2026-03-15T07:22:34.715" v="11" actId="26606"/>
          <ac:spMkLst>
            <pc:docMk/>
            <pc:sldMk cId="0" sldId="265"/>
            <ac:spMk id="153" creationId="{00000000-0000-0000-0000-000000000000}"/>
          </ac:spMkLst>
        </pc:spChg>
        <pc:spChg chg="mod">
          <ac:chgData name="Raghul P" userId="993c10a483e711b2" providerId="LiveId" clId="{BC83A71A-B523-4C8D-996C-4E566256CB7F}" dt="2026-03-15T07:23:49.154" v="56" actId="20577"/>
          <ac:spMkLst>
            <pc:docMk/>
            <pc:sldMk cId="0" sldId="265"/>
            <ac:spMk id="154" creationId="{00000000-0000-0000-0000-000000000000}"/>
          </ac:spMkLst>
        </pc:spChg>
        <pc:spChg chg="mod">
          <ac:chgData name="Raghul P" userId="993c10a483e711b2" providerId="LiveId" clId="{BC83A71A-B523-4C8D-996C-4E566256CB7F}" dt="2026-03-15T07:22:34.715" v="11" actId="26606"/>
          <ac:spMkLst>
            <pc:docMk/>
            <pc:sldMk cId="0" sldId="265"/>
            <ac:spMk id="155" creationId="{00000000-0000-0000-0000-000000000000}"/>
          </ac:spMkLst>
        </pc:spChg>
        <pc:grpChg chg="add del">
          <ac:chgData name="Raghul P" userId="993c10a483e711b2" providerId="LiveId" clId="{BC83A71A-B523-4C8D-996C-4E566256CB7F}" dt="2026-03-15T07:22:34.715" v="11" actId="26606"/>
          <ac:grpSpMkLst>
            <pc:docMk/>
            <pc:sldMk cId="0" sldId="265"/>
            <ac:grpSpMk id="160" creationId="{1FD67D68-9B83-C338-8342-3348D8F22347}"/>
          </ac:grpSpMkLst>
        </pc:grpChg>
        <pc:picChg chg="add del mod ord">
          <ac:chgData name="Raghul P" userId="993c10a483e711b2" providerId="LiveId" clId="{BC83A71A-B523-4C8D-996C-4E566256CB7F}" dt="2026-03-15T07:25:09.281" v="70" actId="478"/>
          <ac:picMkLst>
            <pc:docMk/>
            <pc:sldMk cId="0" sldId="265"/>
            <ac:picMk id="6" creationId="{86B93D65-9BD8-E638-E10C-E9BB87E97AAC}"/>
          </ac:picMkLst>
        </pc:picChg>
        <pc:picChg chg="add">
          <ac:chgData name="Raghul P" userId="993c10a483e711b2" providerId="LiveId" clId="{BC83A71A-B523-4C8D-996C-4E566256CB7F}" dt="2026-03-15T07:25:04.259" v="69"/>
          <ac:picMkLst>
            <pc:docMk/>
            <pc:sldMk cId="0" sldId="265"/>
            <ac:picMk id="8" creationId="{3652B97C-CF6E-9B15-9FEE-E40566F7E7A3}"/>
          </ac:picMkLst>
        </pc:picChg>
        <pc:picChg chg="add mod">
          <ac:chgData name="Raghul P" userId="993c10a483e711b2" providerId="LiveId" clId="{BC83A71A-B523-4C8D-996C-4E566256CB7F}" dt="2026-03-15T07:25:28.590" v="76" actId="1076"/>
          <ac:picMkLst>
            <pc:docMk/>
            <pc:sldMk cId="0" sldId="265"/>
            <ac:picMk id="9" creationId="{7B6F82E6-D0AF-961B-9128-5BD97538F7B2}"/>
          </ac:picMkLst>
        </pc:picChg>
      </pc:sldChg>
      <pc:sldChg chg="addSp modSp mod">
        <pc:chgData name="Raghul P" userId="993c10a483e711b2" providerId="LiveId" clId="{BC83A71A-B523-4C8D-996C-4E566256CB7F}" dt="2026-03-15T07:26:42.045" v="82" actId="1076"/>
        <pc:sldMkLst>
          <pc:docMk/>
          <pc:sldMk cId="0" sldId="266"/>
        </pc:sldMkLst>
        <pc:spChg chg="add">
          <ac:chgData name="Raghul P" userId="993c10a483e711b2" providerId="LiveId" clId="{BC83A71A-B523-4C8D-996C-4E566256CB7F}" dt="2026-03-15T07:26:27.884" v="77"/>
          <ac:spMkLst>
            <pc:docMk/>
            <pc:sldMk cId="0" sldId="266"/>
            <ac:spMk id="2" creationId="{91B570BE-1598-3A77-5D4F-A55BF4E943BC}"/>
          </ac:spMkLst>
        </pc:spChg>
        <pc:spChg chg="mod">
          <ac:chgData name="Raghul P" userId="993c10a483e711b2" providerId="LiveId" clId="{BC83A71A-B523-4C8D-996C-4E566256CB7F}" dt="2026-03-15T07:24:26.464" v="66" actId="20577"/>
          <ac:spMkLst>
            <pc:docMk/>
            <pc:sldMk cId="0" sldId="266"/>
            <ac:spMk id="160" creationId="{00000000-0000-0000-0000-000000000000}"/>
          </ac:spMkLst>
        </pc:spChg>
        <pc:picChg chg="add mod">
          <ac:chgData name="Raghul P" userId="993c10a483e711b2" providerId="LiveId" clId="{BC83A71A-B523-4C8D-996C-4E566256CB7F}" dt="2026-03-15T07:26:42.045" v="82" actId="1076"/>
          <ac:picMkLst>
            <pc:docMk/>
            <pc:sldMk cId="0" sldId="266"/>
            <ac:picMk id="3" creationId="{F7C5FD72-91DD-D510-BFF7-B0398EDC28CE}"/>
          </ac:picMkLst>
        </pc:picChg>
      </pc:sldChg>
      <pc:sldChg chg="addSp modSp mod">
        <pc:chgData name="Raghul P" userId="993c10a483e711b2" providerId="LiveId" clId="{BC83A71A-B523-4C8D-996C-4E566256CB7F}" dt="2026-03-15T07:28:19.245" v="118" actId="14100"/>
        <pc:sldMkLst>
          <pc:docMk/>
          <pc:sldMk cId="0" sldId="267"/>
        </pc:sldMkLst>
        <pc:spChg chg="add">
          <ac:chgData name="Raghul P" userId="993c10a483e711b2" providerId="LiveId" clId="{BC83A71A-B523-4C8D-996C-4E566256CB7F}" dt="2026-03-15T07:27:43.902" v="106"/>
          <ac:spMkLst>
            <pc:docMk/>
            <pc:sldMk cId="0" sldId="267"/>
            <ac:spMk id="2" creationId="{1D22512D-3725-1068-E37A-90FEF44EE953}"/>
          </ac:spMkLst>
        </pc:spChg>
        <pc:spChg chg="mod">
          <ac:chgData name="Raghul P" userId="993c10a483e711b2" providerId="LiveId" clId="{BC83A71A-B523-4C8D-996C-4E566256CB7F}" dt="2026-03-15T07:28:10.148" v="116" actId="123"/>
          <ac:spMkLst>
            <pc:docMk/>
            <pc:sldMk cId="0" sldId="267"/>
            <ac:spMk id="167" creationId="{00000000-0000-0000-0000-000000000000}"/>
          </ac:spMkLst>
        </pc:spChg>
        <pc:picChg chg="add mod">
          <ac:chgData name="Raghul P" userId="993c10a483e711b2" providerId="LiveId" clId="{BC83A71A-B523-4C8D-996C-4E566256CB7F}" dt="2026-03-15T07:28:19.245" v="118" actId="14100"/>
          <ac:picMkLst>
            <pc:docMk/>
            <pc:sldMk cId="0" sldId="267"/>
            <ac:picMk id="3" creationId="{57B735C1-73BA-ED8C-2C39-CC6595C5F265}"/>
          </ac:picMkLst>
        </pc:picChg>
      </pc:sldChg>
      <pc:sldChg chg="addSp modSp mod">
        <pc:chgData name="Raghul P" userId="993c10a483e711b2" providerId="LiveId" clId="{BC83A71A-B523-4C8D-996C-4E566256CB7F}" dt="2026-03-15T07:30:09.213" v="135" actId="1076"/>
        <pc:sldMkLst>
          <pc:docMk/>
          <pc:sldMk cId="0" sldId="268"/>
        </pc:sldMkLst>
        <pc:spChg chg="mod">
          <ac:chgData name="Raghul P" userId="993c10a483e711b2" providerId="LiveId" clId="{BC83A71A-B523-4C8D-996C-4E566256CB7F}" dt="2026-03-15T07:30:06.393" v="134" actId="20577"/>
          <ac:spMkLst>
            <pc:docMk/>
            <pc:sldMk cId="0" sldId="268"/>
            <ac:spMk id="174" creationId="{00000000-0000-0000-0000-000000000000}"/>
          </ac:spMkLst>
        </pc:spChg>
        <pc:picChg chg="add mod">
          <ac:chgData name="Raghul P" userId="993c10a483e711b2" providerId="LiveId" clId="{BC83A71A-B523-4C8D-996C-4E566256CB7F}" dt="2026-03-15T07:30:09.213" v="135" actId="1076"/>
          <ac:picMkLst>
            <pc:docMk/>
            <pc:sldMk cId="0" sldId="268"/>
            <ac:picMk id="2" creationId="{119B3A8C-0E06-6C78-4FCC-0855A55D98A1}"/>
          </ac:picMkLst>
        </pc:picChg>
      </pc:sldChg>
      <pc:sldChg chg="addSp delSp modSp mod setBg">
        <pc:chgData name="Raghul P" userId="993c10a483e711b2" providerId="LiveId" clId="{BC83A71A-B523-4C8D-996C-4E566256CB7F}" dt="2026-03-15T07:32:25.617" v="168" actId="14100"/>
        <pc:sldMkLst>
          <pc:docMk/>
          <pc:sldMk cId="0" sldId="269"/>
        </pc:sldMkLst>
        <pc:spChg chg="add">
          <ac:chgData name="Raghul P" userId="993c10a483e711b2" providerId="LiveId" clId="{BC83A71A-B523-4C8D-996C-4E566256CB7F}" dt="2026-03-15T07:31:21.651" v="152"/>
          <ac:spMkLst>
            <pc:docMk/>
            <pc:sldMk cId="0" sldId="269"/>
            <ac:spMk id="2" creationId="{6F5051EF-9A9F-F4A6-F739-2AE990D169F9}"/>
          </ac:spMkLst>
        </pc:spChg>
        <pc:spChg chg="mod ord">
          <ac:chgData name="Raghul P" userId="993c10a483e711b2" providerId="LiveId" clId="{BC83A71A-B523-4C8D-996C-4E566256CB7F}" dt="2026-03-15T07:32:17.208" v="164" actId="14100"/>
          <ac:spMkLst>
            <pc:docMk/>
            <pc:sldMk cId="0" sldId="269"/>
            <ac:spMk id="181" creationId="{00000000-0000-0000-0000-000000000000}"/>
          </ac:spMkLst>
        </pc:spChg>
        <pc:spChg chg="mod ord">
          <ac:chgData name="Raghul P" userId="993c10a483e711b2" providerId="LiveId" clId="{BC83A71A-B523-4C8D-996C-4E566256CB7F}" dt="2026-03-15T07:32:06.557" v="161" actId="26606"/>
          <ac:spMkLst>
            <pc:docMk/>
            <pc:sldMk cId="0" sldId="269"/>
            <ac:spMk id="182" creationId="{00000000-0000-0000-0000-000000000000}"/>
          </ac:spMkLst>
        </pc:spChg>
        <pc:spChg chg="mod ord">
          <ac:chgData name="Raghul P" userId="993c10a483e711b2" providerId="LiveId" clId="{BC83A71A-B523-4C8D-996C-4E566256CB7F}" dt="2026-03-15T07:32:06.557" v="161" actId="26606"/>
          <ac:spMkLst>
            <pc:docMk/>
            <pc:sldMk cId="0" sldId="269"/>
            <ac:spMk id="183" creationId="{00000000-0000-0000-0000-000000000000}"/>
          </ac:spMkLst>
        </pc:spChg>
        <pc:spChg chg="add del">
          <ac:chgData name="Raghul P" userId="993c10a483e711b2" providerId="LiveId" clId="{BC83A71A-B523-4C8D-996C-4E566256CB7F}" dt="2026-03-15T07:31:39.404" v="157" actId="26606"/>
          <ac:spMkLst>
            <pc:docMk/>
            <pc:sldMk cId="0" sldId="269"/>
            <ac:spMk id="188" creationId="{F13C74B1-5B17-4795-BED0-7140497B445A}"/>
          </ac:spMkLst>
        </pc:spChg>
        <pc:spChg chg="add del">
          <ac:chgData name="Raghul P" userId="993c10a483e711b2" providerId="LiveId" clId="{BC83A71A-B523-4C8D-996C-4E566256CB7F}" dt="2026-03-15T07:31:39.404" v="157" actId="26606"/>
          <ac:spMkLst>
            <pc:docMk/>
            <pc:sldMk cId="0" sldId="269"/>
            <ac:spMk id="190" creationId="{D4974D33-8DC5-464E-8C6D-BE58F0669C17}"/>
          </ac:spMkLst>
        </pc:spChg>
        <pc:spChg chg="add del">
          <ac:chgData name="Raghul P" userId="993c10a483e711b2" providerId="LiveId" clId="{BC83A71A-B523-4C8D-996C-4E566256CB7F}" dt="2026-03-15T07:31:46.802" v="159" actId="26606"/>
          <ac:spMkLst>
            <pc:docMk/>
            <pc:sldMk cId="0" sldId="269"/>
            <ac:spMk id="192" creationId="{04812C46-200A-4DEB-A05E-3ED6C68C2387}"/>
          </ac:spMkLst>
        </pc:spChg>
        <pc:spChg chg="add del">
          <ac:chgData name="Raghul P" userId="993c10a483e711b2" providerId="LiveId" clId="{BC83A71A-B523-4C8D-996C-4E566256CB7F}" dt="2026-03-15T07:31:46.802" v="159" actId="26606"/>
          <ac:spMkLst>
            <pc:docMk/>
            <pc:sldMk cId="0" sldId="269"/>
            <ac:spMk id="193" creationId="{D1EA859B-E555-4109-94F3-6700E046E008}"/>
          </ac:spMkLst>
        </pc:spChg>
        <pc:spChg chg="add del">
          <ac:chgData name="Raghul P" userId="993c10a483e711b2" providerId="LiveId" clId="{BC83A71A-B523-4C8D-996C-4E566256CB7F}" dt="2026-03-15T07:32:06.557" v="161" actId="26606"/>
          <ac:spMkLst>
            <pc:docMk/>
            <pc:sldMk cId="0" sldId="269"/>
            <ac:spMk id="195" creationId="{F13C74B1-5B17-4795-BED0-7140497B445A}"/>
          </ac:spMkLst>
        </pc:spChg>
        <pc:spChg chg="add del">
          <ac:chgData name="Raghul P" userId="993c10a483e711b2" providerId="LiveId" clId="{BC83A71A-B523-4C8D-996C-4E566256CB7F}" dt="2026-03-15T07:32:06.557" v="161" actId="26606"/>
          <ac:spMkLst>
            <pc:docMk/>
            <pc:sldMk cId="0" sldId="269"/>
            <ac:spMk id="196" creationId="{D4974D33-8DC5-464E-8C6D-BE58F0669C17}"/>
          </ac:spMkLst>
        </pc:spChg>
        <pc:picChg chg="add mod ord">
          <ac:chgData name="Raghul P" userId="993c10a483e711b2" providerId="LiveId" clId="{BC83A71A-B523-4C8D-996C-4E566256CB7F}" dt="2026-03-15T07:32:25.617" v="168" actId="14100"/>
          <ac:picMkLst>
            <pc:docMk/>
            <pc:sldMk cId="0" sldId="269"/>
            <ac:picMk id="3" creationId="{613EDC22-3EFA-BCD1-20DC-0D8A7A4680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3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</a:rPr>
              <a:t>20CS8504 &amp; PROJECT WORK</a:t>
            </a:r>
            <a:endParaRPr b="1" dirty="0">
              <a:latin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sym typeface="Arial Narrow"/>
              </a:rPr>
              <a:t>CYCLE 2 REVIEW PRESENTATION</a:t>
            </a:r>
            <a:endParaRPr b="1" u="sng" dirty="0">
              <a:latin typeface="Arial Narrow"/>
              <a:sym typeface="Arial Narrow"/>
            </a:endParaRPr>
          </a:p>
          <a:p>
            <a:pPr marL="0" lvl="0" indent="0"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Batch No.: 07</a:t>
            </a:r>
            <a:endParaRPr lang="en-GB"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Date: 16/03/2026</a:t>
            </a:r>
            <a:endParaRPr lang="en-GB" sz="2400" dirty="0"/>
          </a:p>
          <a:p>
            <a:pPr marL="0" lvl="0" indent="0"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Session: FN</a:t>
            </a: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228600" algn="ctr">
              <a:buNone/>
            </a:pPr>
            <a:endParaRPr lang="en-GB" sz="27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114300" lvl="0" indent="0" algn="ctr">
              <a:buNone/>
            </a:pPr>
            <a:r>
              <a:rPr lang="en-GB" sz="27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GB" sz="2700" b="1" dirty="0">
                <a:latin typeface="Arial Narrow"/>
                <a:ea typeface="Arial Narrow"/>
                <a:cs typeface="Arial Narrow"/>
                <a:sym typeface="Arial Narrow"/>
              </a:rPr>
              <a:t>NUTRILIFE: AN AI-DRIVEN PERSONALIZED GROCERY PLANNING SYSTEM FOR</a:t>
            </a:r>
            <a:endParaRPr lang="en-GB" sz="2700" dirty="0"/>
          </a:p>
          <a:p>
            <a:pPr marL="114300" lvl="0" indent="0" algn="ctr">
              <a:buNone/>
            </a:pPr>
            <a:r>
              <a:rPr lang="en-GB" sz="2700" b="1" dirty="0">
                <a:latin typeface="Arial Narrow"/>
                <a:ea typeface="Arial Narrow"/>
                <a:cs typeface="Arial Narrow"/>
                <a:sym typeface="Arial Narrow"/>
              </a:rPr>
              <a:t> HEALTHY AND AFFORDABLE LIVING </a:t>
            </a: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527934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Guide Name: </a:t>
            </a:r>
          </a:p>
          <a:p>
            <a:pPr marL="0" lvl="0" indent="0">
              <a:buSzPts val="2400"/>
              <a:buNone/>
            </a:pPr>
            <a:b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      </a:t>
            </a:r>
            <a:r>
              <a:rPr lang="en-US" sz="2400" b="1" dirty="0" err="1">
                <a:latin typeface="Arial Narrow"/>
                <a:ea typeface="Arial Narrow"/>
                <a:cs typeface="Arial Narrow"/>
                <a:sym typeface="Arial Narrow"/>
              </a:rPr>
              <a:t>Mrs.A.DHIVYA</a:t>
            </a: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 BHARATHI M.E(Ph.D.,)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	ASSISTANT PROFESSOR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	</a:t>
            </a: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Team Members:</a:t>
            </a:r>
            <a:endParaRPr lang="en-US" dirty="0"/>
          </a:p>
          <a:p>
            <a:pPr marL="457200" lvl="1" indent="0" algn="just">
              <a:spcBef>
                <a:spcPts val="1000"/>
              </a:spcBef>
              <a:buSzPts val="2400"/>
              <a:buNone/>
            </a:pPr>
            <a:r>
              <a:rPr lang="en-US" sz="2000" b="1" dirty="0">
                <a:latin typeface="Arial Narrow"/>
                <a:ea typeface="Arial Narrow"/>
                <a:cs typeface="Arial Narrow"/>
                <a:sym typeface="Arial Narrow"/>
              </a:rPr>
              <a:t>(811722104082)LOGESHWARAN.P</a:t>
            </a:r>
          </a:p>
          <a:p>
            <a:pPr marL="457200" lvl="1" indent="0" algn="just">
              <a:spcBef>
                <a:spcPts val="1000"/>
              </a:spcBef>
              <a:buSzPts val="2400"/>
              <a:buNone/>
            </a:pPr>
            <a:r>
              <a:rPr lang="en-US" sz="2000" b="1" dirty="0">
                <a:latin typeface="Arial Narrow"/>
                <a:ea typeface="Arial Narrow"/>
                <a:cs typeface="Arial Narrow"/>
                <a:sym typeface="Arial Narrow"/>
              </a:rPr>
              <a:t>(811722104113)PRITHICK ROSHAN.S</a:t>
            </a:r>
            <a:endParaRPr lang="en-US" dirty="0"/>
          </a:p>
          <a:p>
            <a:pPr marL="457200" lvl="1" indent="0" algn="just">
              <a:spcBef>
                <a:spcPts val="1000"/>
              </a:spcBef>
              <a:buSzPts val="2400"/>
              <a:buNone/>
            </a:pPr>
            <a:r>
              <a:rPr lang="en-US" sz="2000" b="1" dirty="0">
                <a:latin typeface="Arial Narrow"/>
                <a:ea typeface="Arial Narrow"/>
                <a:cs typeface="Arial Narrow"/>
                <a:sym typeface="Arial Narrow"/>
              </a:rPr>
              <a:t>(811722104116)RAGHUL.P</a:t>
            </a:r>
            <a:endParaRPr lang="en-US" dirty="0"/>
          </a:p>
          <a:p>
            <a:pPr marL="457200" lvl="1" indent="0" algn="just">
              <a:spcBef>
                <a:spcPts val="1000"/>
              </a:spcBef>
              <a:buSzPts val="2400"/>
              <a:buNone/>
            </a:pPr>
            <a:r>
              <a:rPr lang="en-US" sz="2000" b="1" dirty="0">
                <a:latin typeface="Arial Narrow"/>
                <a:ea typeface="Arial Narrow"/>
                <a:cs typeface="Arial Narrow"/>
                <a:sym typeface="Arial Narrow"/>
              </a:rPr>
              <a:t>(811722104124)RIYAZ AHMED.H</a:t>
            </a:r>
            <a:endParaRPr lang="en-US" dirty="0"/>
          </a:p>
          <a:p>
            <a:pPr marL="0" lvl="0" indent="0" algn="just">
              <a:buSzPts val="2400"/>
              <a:buNone/>
            </a:pP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2190749"/>
            <a:ext cx="10515600" cy="3407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en-GB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Develop an AI-based system for personalized grocery planning based on users’ health conditions and dietary needs.</a:t>
            </a:r>
          </a:p>
          <a:p>
            <a:pPr marL="51435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en-GB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Provide nutritionally balanced and cost-effective grocery recommendations for individuals and families.</a:t>
            </a:r>
          </a:p>
          <a:p>
            <a:pPr marL="51435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en-GB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Reduce food waste and promote healthier eating through data-driven grocery planning.</a:t>
            </a:r>
          </a:p>
          <a:p>
            <a:pPr marL="51435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endParaRPr dirty="0">
              <a:solidFill>
                <a:schemeClr val="tx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540042"/>
            <a:ext cx="10515600" cy="495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51435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Many people find it difficult to plan groceries that balance nutrition, health needs, and budget.</a:t>
            </a:r>
          </a:p>
          <a:p>
            <a:pPr marL="51435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Most existing grocery and meal planning applications provide only general food suggestions.</a:t>
            </a:r>
          </a:p>
          <a:p>
            <a:pPr marL="51435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These systems usually ignore individual health conditions and specific dietary requirements.</a:t>
            </a:r>
          </a:p>
          <a:p>
            <a:pPr marL="51435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As a result, users often receive recommendations that are not personalized or medically relevant.</a:t>
            </a:r>
          </a:p>
          <a:p>
            <a:pPr marL="51435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 dirty="0" err="1">
                <a:latin typeface="Arial Narrow" panose="020B0606020202030204" pitchFamily="34" charset="0"/>
              </a:rPr>
              <a:t>NutriLife</a:t>
            </a:r>
            <a:r>
              <a:rPr lang="en-GB" dirty="0">
                <a:latin typeface="Arial Narrow" panose="020B0606020202030204" pitchFamily="34" charset="0"/>
              </a:rPr>
              <a:t> solves this problem by using AI to generate customized grocery plans based on health profiles, nutrition goals, and budget constraints.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3469006064"/>
              </p:ext>
            </p:extLst>
          </p:nvPr>
        </p:nvGraphicFramePr>
        <p:xfrm>
          <a:off x="0" y="708000"/>
          <a:ext cx="12192001" cy="6116937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2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9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AI-</a:t>
                      </a:r>
                      <a:r>
                        <a:rPr lang="en-US" sz="1600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Powered Meal Planner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N.Punitha,Aswini Sibi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</a:t>
                      </a:r>
                      <a:r>
                        <a:rPr lang="en-US" sz="160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JRPR</a:t>
                      </a: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(202</a:t>
                      </a:r>
                      <a:r>
                        <a:rPr lang="en-US" sz="160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5)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Machine Learning, Health Data Analysis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Nutrition Recommendation System for Healthy Living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A. Jain, P. Singh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International Journal of Computer Applications</a:t>
                      </a:r>
                      <a:r>
                        <a:rPr lang="en-US" sz="160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(2019)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 Mining, Recommendation Algorithm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Smart Grocery System Using Artificial Intelligence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H. Zhang, J. Li, M. Ma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IEEE Conference(2020</a:t>
                      </a:r>
                      <a:r>
                        <a:rPr lang="en-US" sz="160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Artificial Intelligence, IoT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AI-Driven Grocery Recommendation Model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S. Lee, Y. Kim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ACM HealthTech(2022)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Machine Learning, User Preference Modeling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Intelligent Grocery Planning for Food Waste Reduction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A. Sharma, P. Arora, M. Das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International Journal of Advanced Computer Science(2020)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AI-Based Planning, Data Analytics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AI-Based Meal Planning System for Chronic Disease Management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A. Sharma, R. Verma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IEEE Conference(2021)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Machine Learning, Health Data Processing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Personalized Nutrition Planning Using User Health Profiles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N. Patel, S. Mehta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International Journal of Computer Science(2020)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Recommendation Systems, Data Analytics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Smart Food Recommendation System Using AI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M. R. Patel, D. S. Rana</a:t>
                      </a:r>
                      <a:endParaRPr sz="18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International Journal of Engineering Research(2020)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Artificial Intelligence, Rule-Based Systems</a:t>
                      </a:r>
                      <a:endParaRPr sz="18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7470690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24" name="Google Shape;138;p6" descr="Ui Ux outline">
            <a:extLst>
              <a:ext uri="{FF2B5EF4-FFF2-40B4-BE49-F238E27FC236}">
                <a16:creationId xmlns:a16="http://schemas.microsoft.com/office/drawing/2014/main" id="{04241A67-9210-0D82-1CE1-575978C2FC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8142" y="1208551"/>
            <a:ext cx="1232307" cy="1232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39;p6" descr="Shopping cart with solid fill">
            <a:extLst>
              <a:ext uri="{FF2B5EF4-FFF2-40B4-BE49-F238E27FC236}">
                <a16:creationId xmlns:a16="http://schemas.microsoft.com/office/drawing/2014/main" id="{156DBFDF-2A76-9C0B-CB69-F11FAF5DF3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90046" y="14716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40;p6" descr="Food app - Free web icons">
            <a:extLst>
              <a:ext uri="{FF2B5EF4-FFF2-40B4-BE49-F238E27FC236}">
                <a16:creationId xmlns:a16="http://schemas.microsoft.com/office/drawing/2014/main" id="{0E7AB230-52A3-25C3-F7A3-EB1E387D5FC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1356786"/>
            <a:ext cx="1053997" cy="105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41;p6" descr="No Health Insurance: Over 1,713 Royalty-Free Licensable Stock Illustrations  &amp; Drawings | Shutterstock">
            <a:extLst>
              <a:ext uri="{FF2B5EF4-FFF2-40B4-BE49-F238E27FC236}">
                <a16:creationId xmlns:a16="http://schemas.microsoft.com/office/drawing/2014/main" id="{3E735D61-527F-BD9C-AEA9-045BC5B3CD5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7142"/>
          <a:stretch/>
        </p:blipFill>
        <p:spPr>
          <a:xfrm>
            <a:off x="9037813" y="1289435"/>
            <a:ext cx="1053996" cy="115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42;p6" descr="3+ Thousand No Budget Icon Royalty-Free Images, Stock Photos &amp; Pictures |  Shutterstock">
            <a:extLst>
              <a:ext uri="{FF2B5EF4-FFF2-40B4-BE49-F238E27FC236}">
                <a16:creationId xmlns:a16="http://schemas.microsoft.com/office/drawing/2014/main" id="{15C33684-8E92-0D6D-7DC0-3D79A1A84A1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3178" t="9428" r="17103" b="22000"/>
          <a:stretch/>
        </p:blipFill>
        <p:spPr>
          <a:xfrm>
            <a:off x="8891965" y="4405057"/>
            <a:ext cx="1596696" cy="1369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43;p6" descr="Grocery Store Icon SVG Vector &amp; PNG Free Download | UXWing">
            <a:extLst>
              <a:ext uri="{FF2B5EF4-FFF2-40B4-BE49-F238E27FC236}">
                <a16:creationId xmlns:a16="http://schemas.microsoft.com/office/drawing/2014/main" id="{7EAED38F-2C1E-FF5D-8D1E-AE4140C6231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22200" y="4632785"/>
            <a:ext cx="1188257" cy="91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44;p6" descr="3,430 Avoid Foods Stock Vectors and Vector Art | Shutterstock">
            <a:extLst>
              <a:ext uri="{FF2B5EF4-FFF2-40B4-BE49-F238E27FC236}">
                <a16:creationId xmlns:a16="http://schemas.microsoft.com/office/drawing/2014/main" id="{0B7BF8A5-5179-34B5-5B6D-B5D3D8AC1B8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t="26654" b="26188"/>
          <a:stretch/>
        </p:blipFill>
        <p:spPr>
          <a:xfrm>
            <a:off x="1159838" y="4541470"/>
            <a:ext cx="2349500" cy="11079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145;p6">
            <a:extLst>
              <a:ext uri="{FF2B5EF4-FFF2-40B4-BE49-F238E27FC236}">
                <a16:creationId xmlns:a16="http://schemas.microsoft.com/office/drawing/2014/main" id="{C01B7A7D-361E-5BC6-E08E-C46C8459120E}"/>
              </a:ext>
            </a:extLst>
          </p:cNvPr>
          <p:cNvCxnSpPr/>
          <p:nvPr/>
        </p:nvCxnSpPr>
        <p:spPr>
          <a:xfrm>
            <a:off x="2359742" y="1910080"/>
            <a:ext cx="120641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" name="Google Shape;146;p6">
            <a:extLst>
              <a:ext uri="{FF2B5EF4-FFF2-40B4-BE49-F238E27FC236}">
                <a16:creationId xmlns:a16="http://schemas.microsoft.com/office/drawing/2014/main" id="{6F07AA50-A690-DEB6-3E0B-CBB2C69142C3}"/>
              </a:ext>
            </a:extLst>
          </p:cNvPr>
          <p:cNvCxnSpPr/>
          <p:nvPr/>
        </p:nvCxnSpPr>
        <p:spPr>
          <a:xfrm>
            <a:off x="4604446" y="1910080"/>
            <a:ext cx="15646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7" name="Google Shape;147;p6">
            <a:extLst>
              <a:ext uri="{FF2B5EF4-FFF2-40B4-BE49-F238E27FC236}">
                <a16:creationId xmlns:a16="http://schemas.microsoft.com/office/drawing/2014/main" id="{E0CD63E8-E835-3D74-9190-88D97FA96692}"/>
              </a:ext>
            </a:extLst>
          </p:cNvPr>
          <p:cNvCxnSpPr/>
          <p:nvPr/>
        </p:nvCxnSpPr>
        <p:spPr>
          <a:xfrm>
            <a:off x="7352726" y="2032983"/>
            <a:ext cx="15646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8" name="Google Shape;148;p6">
            <a:extLst>
              <a:ext uri="{FF2B5EF4-FFF2-40B4-BE49-F238E27FC236}">
                <a16:creationId xmlns:a16="http://schemas.microsoft.com/office/drawing/2014/main" id="{7E4FF5E7-6CC6-F2AB-7862-8AA4FF3DF501}"/>
              </a:ext>
            </a:extLst>
          </p:cNvPr>
          <p:cNvCxnSpPr/>
          <p:nvPr/>
        </p:nvCxnSpPr>
        <p:spPr>
          <a:xfrm>
            <a:off x="9567443" y="3006376"/>
            <a:ext cx="0" cy="12313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9" name="Google Shape;149;p6">
            <a:extLst>
              <a:ext uri="{FF2B5EF4-FFF2-40B4-BE49-F238E27FC236}">
                <a16:creationId xmlns:a16="http://schemas.microsoft.com/office/drawing/2014/main" id="{EC7A84E1-060B-DCE6-972B-9F2D8074FBB4}"/>
              </a:ext>
            </a:extLst>
          </p:cNvPr>
          <p:cNvCxnSpPr>
            <a:stCxn id="28" idx="1"/>
          </p:cNvCxnSpPr>
          <p:nvPr/>
        </p:nvCxnSpPr>
        <p:spPr>
          <a:xfrm rot="10800000">
            <a:off x="6821065" y="5089986"/>
            <a:ext cx="207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0" name="Google Shape;150;p6">
            <a:extLst>
              <a:ext uri="{FF2B5EF4-FFF2-40B4-BE49-F238E27FC236}">
                <a16:creationId xmlns:a16="http://schemas.microsoft.com/office/drawing/2014/main" id="{2CD62318-E226-C548-798A-828ADF9EC3BF}"/>
              </a:ext>
            </a:extLst>
          </p:cNvPr>
          <p:cNvCxnSpPr/>
          <p:nvPr/>
        </p:nvCxnSpPr>
        <p:spPr>
          <a:xfrm rot="10800000">
            <a:off x="3566160" y="5048362"/>
            <a:ext cx="147057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1" name="Google Shape;152;p6">
            <a:extLst>
              <a:ext uri="{FF2B5EF4-FFF2-40B4-BE49-F238E27FC236}">
                <a16:creationId xmlns:a16="http://schemas.microsoft.com/office/drawing/2014/main" id="{3B30E5B3-FCA7-53BC-27CE-04608C0DFD99}"/>
              </a:ext>
            </a:extLst>
          </p:cNvPr>
          <p:cNvSpPr txBox="1"/>
          <p:nvPr/>
        </p:nvSpPr>
        <p:spPr>
          <a:xfrm>
            <a:off x="3065041" y="2602723"/>
            <a:ext cx="216440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Manual Grocery Selection</a:t>
            </a:r>
            <a:endParaRPr/>
          </a:p>
        </p:txBody>
      </p:sp>
      <p:sp>
        <p:nvSpPr>
          <p:cNvPr id="102" name="Google Shape;153;p6">
            <a:extLst>
              <a:ext uri="{FF2B5EF4-FFF2-40B4-BE49-F238E27FC236}">
                <a16:creationId xmlns:a16="http://schemas.microsoft.com/office/drawing/2014/main" id="{89687B82-2AAA-0792-77CC-8714BF98C88D}"/>
              </a:ext>
            </a:extLst>
          </p:cNvPr>
          <p:cNvSpPr txBox="1"/>
          <p:nvPr/>
        </p:nvSpPr>
        <p:spPr>
          <a:xfrm>
            <a:off x="5692138" y="2616229"/>
            <a:ext cx="21644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Generic Food Apps / Local Stores</a:t>
            </a:r>
            <a:endParaRPr/>
          </a:p>
        </p:txBody>
      </p:sp>
      <p:sp>
        <p:nvSpPr>
          <p:cNvPr id="103" name="Google Shape;154;p6">
            <a:extLst>
              <a:ext uri="{FF2B5EF4-FFF2-40B4-BE49-F238E27FC236}">
                <a16:creationId xmlns:a16="http://schemas.microsoft.com/office/drawing/2014/main" id="{15634A7E-7CFA-2831-F0E9-D17C4C2C9AA6}"/>
              </a:ext>
            </a:extLst>
          </p:cNvPr>
          <p:cNvSpPr txBox="1"/>
          <p:nvPr/>
        </p:nvSpPr>
        <p:spPr>
          <a:xfrm>
            <a:off x="8608108" y="2596530"/>
            <a:ext cx="216440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No Health Analysis</a:t>
            </a:r>
            <a:endParaRPr/>
          </a:p>
        </p:txBody>
      </p:sp>
      <p:sp>
        <p:nvSpPr>
          <p:cNvPr id="104" name="Google Shape;155;p6">
            <a:extLst>
              <a:ext uri="{FF2B5EF4-FFF2-40B4-BE49-F238E27FC236}">
                <a16:creationId xmlns:a16="http://schemas.microsoft.com/office/drawing/2014/main" id="{E67BE7D8-D59F-C06C-D66B-EF50F9E4B93F}"/>
              </a:ext>
            </a:extLst>
          </p:cNvPr>
          <p:cNvSpPr txBox="1"/>
          <p:nvPr/>
        </p:nvSpPr>
        <p:spPr>
          <a:xfrm>
            <a:off x="4985588" y="5774915"/>
            <a:ext cx="21644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Unplanned Grocery Purchase</a:t>
            </a:r>
            <a:endParaRPr/>
          </a:p>
        </p:txBody>
      </p:sp>
      <p:sp>
        <p:nvSpPr>
          <p:cNvPr id="105" name="Google Shape;156;p6">
            <a:extLst>
              <a:ext uri="{FF2B5EF4-FFF2-40B4-BE49-F238E27FC236}">
                <a16:creationId xmlns:a16="http://schemas.microsoft.com/office/drawing/2014/main" id="{489FE072-2D18-6FFD-1EA5-3DEE3BED18D5}"/>
              </a:ext>
            </a:extLst>
          </p:cNvPr>
          <p:cNvSpPr txBox="1"/>
          <p:nvPr/>
        </p:nvSpPr>
        <p:spPr>
          <a:xfrm>
            <a:off x="1373340" y="5649448"/>
            <a:ext cx="21644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Unhealthy Diet &amp; Food Wastage</a:t>
            </a:r>
            <a:endParaRPr/>
          </a:p>
        </p:txBody>
      </p:sp>
      <p:sp>
        <p:nvSpPr>
          <p:cNvPr id="106" name="Google Shape;157;p6">
            <a:extLst>
              <a:ext uri="{FF2B5EF4-FFF2-40B4-BE49-F238E27FC236}">
                <a16:creationId xmlns:a16="http://schemas.microsoft.com/office/drawing/2014/main" id="{0C11EA39-0E16-7805-0C84-D6A9EF9BF387}"/>
              </a:ext>
            </a:extLst>
          </p:cNvPr>
          <p:cNvSpPr txBox="1"/>
          <p:nvPr/>
        </p:nvSpPr>
        <p:spPr>
          <a:xfrm>
            <a:off x="8654251" y="5857181"/>
            <a:ext cx="216440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No Budget Optimization</a:t>
            </a:r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72E2F76-A000-D8D3-BFD0-36A726C7EBEA}"/>
              </a:ext>
            </a:extLst>
          </p:cNvPr>
          <p:cNvSpPr txBox="1"/>
          <p:nvPr/>
        </p:nvSpPr>
        <p:spPr>
          <a:xfrm>
            <a:off x="1419483" y="2564914"/>
            <a:ext cx="6176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User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577515" y="1034142"/>
            <a:ext cx="10950455" cy="458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Clr>
                <a:schemeClr val="dk1"/>
              </a:buClr>
              <a:buSzPts val="2800"/>
              <a:buNone/>
            </a:pPr>
            <a:r>
              <a:rPr lang="en-GB" sz="2800" dirty="0">
                <a:latin typeface="Arial Narrow" panose="020B0606020202030204" pitchFamily="34" charset="0"/>
              </a:rPr>
              <a:t>1. Difficulty in planning groceries that balance nutrition, health conditions, and budget.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Clr>
                <a:schemeClr val="dk1"/>
              </a:buClr>
              <a:buSzPts val="2800"/>
              <a:buNone/>
            </a:pPr>
            <a:r>
              <a:rPr lang="en-GB" sz="2800" dirty="0">
                <a:latin typeface="Arial Narrow" panose="020B0606020202030204" pitchFamily="34" charset="0"/>
              </a:rPr>
              <a:t>2. Existing grocery apps provide generic recommendations without personalization.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Clr>
                <a:schemeClr val="dk1"/>
              </a:buClr>
              <a:buSzPts val="2800"/>
              <a:buNone/>
            </a:pPr>
            <a:r>
              <a:rPr lang="en-GB" sz="2800" dirty="0">
                <a:latin typeface="Arial Narrow" panose="020B0606020202030204" pitchFamily="34" charset="0"/>
              </a:rPr>
              <a:t>3. Lack of systems that consider individual health conditions and dietary restrictions.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Clr>
                <a:schemeClr val="dk1"/>
              </a:buClr>
              <a:buSzPts val="2800"/>
              <a:buNone/>
            </a:pPr>
            <a:r>
              <a:rPr lang="en-GB" sz="2800" dirty="0">
                <a:latin typeface="Arial Narrow" panose="020B0606020202030204" pitchFamily="34" charset="0"/>
              </a:rPr>
              <a:t>4. Inefficient grocery purchasing often leads to food wastage.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Clr>
                <a:schemeClr val="dk1"/>
              </a:buClr>
              <a:buSzPts val="2800"/>
              <a:buNone/>
            </a:pPr>
            <a:r>
              <a:rPr lang="en-GB" sz="2800" dirty="0">
                <a:latin typeface="Arial Narrow" panose="020B0606020202030204" pitchFamily="34" charset="0"/>
              </a:rPr>
              <a:t>5. Need for a smart solution that integrates nutrition analysis with grocery planning.</a:t>
            </a: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sp>
        <p:nvSpPr>
          <p:cNvPr id="2" name="Google Shape;162;p7">
            <a:extLst>
              <a:ext uri="{FF2B5EF4-FFF2-40B4-BE49-F238E27FC236}">
                <a16:creationId xmlns:a16="http://schemas.microsoft.com/office/drawing/2014/main" id="{8BCA303A-B7B9-CFF4-BB60-B327EFA80D1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SzPts val="1200"/>
            </a:pPr>
            <a:fld id="{00000000-1234-1234-1234-123412341234}" type="slidenum">
              <a:rPr lang="en-US" b="1" smtClean="0">
                <a:solidFill>
                  <a:schemeClr val="dk1"/>
                </a:solidFill>
              </a:rPr>
              <a:pPr>
                <a:buSzPts val="1200"/>
              </a:pPr>
              <a:t>8</a:t>
            </a:fld>
            <a:endParaRPr lang="en-US" b="1">
              <a:solidFill>
                <a:schemeClr val="dk1"/>
              </a:solidFill>
            </a:endParaRPr>
          </a:p>
        </p:txBody>
      </p:sp>
      <p:pic>
        <p:nvPicPr>
          <p:cNvPr id="3" name="Google Shape;164;p7" descr="Ui Ux outline">
            <a:extLst>
              <a:ext uri="{FF2B5EF4-FFF2-40B4-BE49-F238E27FC236}">
                <a16:creationId xmlns:a16="http://schemas.microsoft.com/office/drawing/2014/main" id="{A46893BA-680B-3A17-1F98-85C1D1CA85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0142" y="1239031"/>
            <a:ext cx="1232307" cy="1232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65;p7" descr="33,900+ Login Icon Stock Illustrations, Royalty-Free Vector Graphics &amp; Clip  Art - iStock | Computer login icon, Account login icon, Login icon vector">
            <a:extLst>
              <a:ext uri="{FF2B5EF4-FFF2-40B4-BE49-F238E27FC236}">
                <a16:creationId xmlns:a16="http://schemas.microsoft.com/office/drawing/2014/main" id="{C1696B71-D171-1C50-811E-E9F7240A2F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3573" t="16231" r="12875" b="12650"/>
          <a:stretch/>
        </p:blipFill>
        <p:spPr>
          <a:xfrm>
            <a:off x="1244513" y="1239031"/>
            <a:ext cx="1397988" cy="1351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6;p7" descr="Create an icon representing artificial intelligence ai icon | Premium Vector">
            <a:extLst>
              <a:ext uri="{FF2B5EF4-FFF2-40B4-BE49-F238E27FC236}">
                <a16:creationId xmlns:a16="http://schemas.microsoft.com/office/drawing/2014/main" id="{610252DA-1BEC-D72C-8AAE-B25EDE25E0A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1395" y="1239031"/>
            <a:ext cx="1508125" cy="150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7;p7" descr="6,400+ Nutrition Label Icon Stock Illustrations, Royalty-Free Vector  Graphics &amp; Clip Art - iStock">
            <a:extLst>
              <a:ext uri="{FF2B5EF4-FFF2-40B4-BE49-F238E27FC236}">
                <a16:creationId xmlns:a16="http://schemas.microsoft.com/office/drawing/2014/main" id="{0ECB4BBB-A6BE-6372-F118-A4BB1FF51E3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9244" t="23039" r="13740" b="6481"/>
          <a:stretch/>
        </p:blipFill>
        <p:spPr>
          <a:xfrm>
            <a:off x="10144760" y="2621280"/>
            <a:ext cx="1765249" cy="1615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8;p7" descr="Order Grocery Online Icon Stock Illustrations – 4,794 Order Grocery Online  Icon Stock Illustrations, Vectors &amp; Clipart - Dreamstime">
            <a:extLst>
              <a:ext uri="{FF2B5EF4-FFF2-40B4-BE49-F238E27FC236}">
                <a16:creationId xmlns:a16="http://schemas.microsoft.com/office/drawing/2014/main" id="{D7E95A57-B402-F8D3-8B5E-3512882E0D8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90460" y="4091216"/>
            <a:ext cx="1996440" cy="1996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69;p7" descr="Online Recipe Icon Concept Healthcare Medicine Stock Vector (Royalty Free)  1519803683 | Shutterstock">
            <a:extLst>
              <a:ext uri="{FF2B5EF4-FFF2-40B4-BE49-F238E27FC236}">
                <a16:creationId xmlns:a16="http://schemas.microsoft.com/office/drawing/2014/main" id="{00C831F7-C9B6-D7BF-263D-2C3D68A31B1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b="9984"/>
          <a:stretch/>
        </p:blipFill>
        <p:spPr>
          <a:xfrm>
            <a:off x="4356099" y="4386663"/>
            <a:ext cx="1739900" cy="1405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70;p7" descr="Healthy diet line icon. Vector isolated illustration. 13899439 Vector Art  at Vecteezy">
            <a:extLst>
              <a:ext uri="{FF2B5EF4-FFF2-40B4-BE49-F238E27FC236}">
                <a16:creationId xmlns:a16="http://schemas.microsoft.com/office/drawing/2014/main" id="{D649370B-EB26-832C-4A89-EE2D701A9A2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1966" y="4486765"/>
            <a:ext cx="1405547" cy="1405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71;p7" descr="4,600+ Cost Optimization Icon Stock Illustrations, Royalty-Free Vector  Graphics &amp; Clip Art - iStock">
            <a:extLst>
              <a:ext uri="{FF2B5EF4-FFF2-40B4-BE49-F238E27FC236}">
                <a16:creationId xmlns:a16="http://schemas.microsoft.com/office/drawing/2014/main" id="{32C82402-F1B2-CF82-A102-8701387BFF5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flipH="1">
            <a:off x="2109155" y="4755065"/>
            <a:ext cx="708000" cy="7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72;p7">
            <a:extLst>
              <a:ext uri="{FF2B5EF4-FFF2-40B4-BE49-F238E27FC236}">
                <a16:creationId xmlns:a16="http://schemas.microsoft.com/office/drawing/2014/main" id="{AD5247E6-D920-571F-B137-AC9D0CFE69E0}"/>
              </a:ext>
            </a:extLst>
          </p:cNvPr>
          <p:cNvSpPr txBox="1"/>
          <p:nvPr/>
        </p:nvSpPr>
        <p:spPr>
          <a:xfrm>
            <a:off x="861302" y="2747156"/>
            <a:ext cx="216440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User</a:t>
            </a:r>
            <a:endParaRPr/>
          </a:p>
        </p:txBody>
      </p:sp>
      <p:sp>
        <p:nvSpPr>
          <p:cNvPr id="12" name="Google Shape;173;p7">
            <a:extLst>
              <a:ext uri="{FF2B5EF4-FFF2-40B4-BE49-F238E27FC236}">
                <a16:creationId xmlns:a16="http://schemas.microsoft.com/office/drawing/2014/main" id="{A6E57E54-9C5B-A5D8-7490-D8B4B80AD93C}"/>
              </a:ext>
            </a:extLst>
          </p:cNvPr>
          <p:cNvSpPr txBox="1"/>
          <p:nvPr/>
        </p:nvSpPr>
        <p:spPr>
          <a:xfrm>
            <a:off x="3775852" y="2550673"/>
            <a:ext cx="216440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User Profile Input</a:t>
            </a:r>
            <a:endParaRPr/>
          </a:p>
        </p:txBody>
      </p:sp>
      <p:sp>
        <p:nvSpPr>
          <p:cNvPr id="13" name="Google Shape;174;p7">
            <a:extLst>
              <a:ext uri="{FF2B5EF4-FFF2-40B4-BE49-F238E27FC236}">
                <a16:creationId xmlns:a16="http://schemas.microsoft.com/office/drawing/2014/main" id="{EFB6DAF4-BBEB-2151-6E54-D4C7F1F3F3CD}"/>
              </a:ext>
            </a:extLst>
          </p:cNvPr>
          <p:cNvSpPr txBox="1"/>
          <p:nvPr/>
        </p:nvSpPr>
        <p:spPr>
          <a:xfrm>
            <a:off x="7023252" y="2862124"/>
            <a:ext cx="21644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AI Recommendation Engine</a:t>
            </a:r>
            <a:endParaRPr/>
          </a:p>
        </p:txBody>
      </p:sp>
      <p:sp>
        <p:nvSpPr>
          <p:cNvPr id="14" name="Google Shape;176;p7">
            <a:extLst>
              <a:ext uri="{FF2B5EF4-FFF2-40B4-BE49-F238E27FC236}">
                <a16:creationId xmlns:a16="http://schemas.microsoft.com/office/drawing/2014/main" id="{95EBC6C2-0060-B0FB-8B06-7B32D8C94B69}"/>
              </a:ext>
            </a:extLst>
          </p:cNvPr>
          <p:cNvSpPr txBox="1"/>
          <p:nvPr/>
        </p:nvSpPr>
        <p:spPr>
          <a:xfrm>
            <a:off x="861301" y="5792210"/>
            <a:ext cx="21644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Healthy Diet + Cost Optimization</a:t>
            </a:r>
            <a:endParaRPr/>
          </a:p>
        </p:txBody>
      </p:sp>
      <p:sp>
        <p:nvSpPr>
          <p:cNvPr id="15" name="Google Shape;177;p7">
            <a:extLst>
              <a:ext uri="{FF2B5EF4-FFF2-40B4-BE49-F238E27FC236}">
                <a16:creationId xmlns:a16="http://schemas.microsoft.com/office/drawing/2014/main" id="{B01FB724-C0C9-A38E-2ED7-CE81D9481F60}"/>
              </a:ext>
            </a:extLst>
          </p:cNvPr>
          <p:cNvSpPr txBox="1"/>
          <p:nvPr/>
        </p:nvSpPr>
        <p:spPr>
          <a:xfrm>
            <a:off x="4175880" y="6087656"/>
            <a:ext cx="21644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Recipe &amp; Meal Suggestions</a:t>
            </a:r>
            <a:endParaRPr/>
          </a:p>
        </p:txBody>
      </p:sp>
      <p:sp>
        <p:nvSpPr>
          <p:cNvPr id="16" name="Google Shape;178;p7">
            <a:extLst>
              <a:ext uri="{FF2B5EF4-FFF2-40B4-BE49-F238E27FC236}">
                <a16:creationId xmlns:a16="http://schemas.microsoft.com/office/drawing/2014/main" id="{98AF7AD5-7290-F053-FDA4-CFBB9CC3B1DA}"/>
              </a:ext>
            </a:extLst>
          </p:cNvPr>
          <p:cNvSpPr txBox="1"/>
          <p:nvPr/>
        </p:nvSpPr>
        <p:spPr>
          <a:xfrm>
            <a:off x="7490459" y="5946954"/>
            <a:ext cx="21644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Grocery Package Generator</a:t>
            </a:r>
            <a:endParaRPr/>
          </a:p>
        </p:txBody>
      </p:sp>
      <p:cxnSp>
        <p:nvCxnSpPr>
          <p:cNvPr id="17" name="Google Shape;179;p7">
            <a:extLst>
              <a:ext uri="{FF2B5EF4-FFF2-40B4-BE49-F238E27FC236}">
                <a16:creationId xmlns:a16="http://schemas.microsoft.com/office/drawing/2014/main" id="{4F926717-9698-7FDD-5843-376B95242569}"/>
              </a:ext>
            </a:extLst>
          </p:cNvPr>
          <p:cNvCxnSpPr/>
          <p:nvPr/>
        </p:nvCxnSpPr>
        <p:spPr>
          <a:xfrm>
            <a:off x="2743200" y="1914915"/>
            <a:ext cx="143268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" name="Google Shape;180;p7">
            <a:extLst>
              <a:ext uri="{FF2B5EF4-FFF2-40B4-BE49-F238E27FC236}">
                <a16:creationId xmlns:a16="http://schemas.microsoft.com/office/drawing/2014/main" id="{F66EF68F-F920-25FD-0481-08C4198F929D}"/>
              </a:ext>
            </a:extLst>
          </p:cNvPr>
          <p:cNvCxnSpPr/>
          <p:nvPr/>
        </p:nvCxnSpPr>
        <p:spPr>
          <a:xfrm>
            <a:off x="5623949" y="1917456"/>
            <a:ext cx="143268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" name="Google Shape;181;p7">
            <a:extLst>
              <a:ext uri="{FF2B5EF4-FFF2-40B4-BE49-F238E27FC236}">
                <a16:creationId xmlns:a16="http://schemas.microsoft.com/office/drawing/2014/main" id="{757C8A02-229B-1985-CD5D-61363C1378D6}"/>
              </a:ext>
            </a:extLst>
          </p:cNvPr>
          <p:cNvCxnSpPr>
            <a:cxnSpLocks/>
            <a:endCxn id="8" idx="3"/>
          </p:cNvCxnSpPr>
          <p:nvPr/>
        </p:nvCxnSpPr>
        <p:spPr>
          <a:xfrm rot="10800000">
            <a:off x="6095999" y="5089437"/>
            <a:ext cx="1727100" cy="27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" name="Google Shape;182;p7">
            <a:extLst>
              <a:ext uri="{FF2B5EF4-FFF2-40B4-BE49-F238E27FC236}">
                <a16:creationId xmlns:a16="http://schemas.microsoft.com/office/drawing/2014/main" id="{C8339AD5-7176-1CCE-15FA-4A70A56211A1}"/>
              </a:ext>
            </a:extLst>
          </p:cNvPr>
          <p:cNvCxnSpPr/>
          <p:nvPr/>
        </p:nvCxnSpPr>
        <p:spPr>
          <a:xfrm rot="10800000">
            <a:off x="2925967" y="5157410"/>
            <a:ext cx="1613646" cy="1580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" name="Google Shape;183;p7">
            <a:extLst>
              <a:ext uri="{FF2B5EF4-FFF2-40B4-BE49-F238E27FC236}">
                <a16:creationId xmlns:a16="http://schemas.microsoft.com/office/drawing/2014/main" id="{64E35D77-E8C2-1508-73E4-3BFDC882480A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9486900" y="4660436"/>
            <a:ext cx="1540500" cy="42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" name="Google Shape;184;p7">
            <a:extLst>
              <a:ext uri="{FF2B5EF4-FFF2-40B4-BE49-F238E27FC236}">
                <a16:creationId xmlns:a16="http://schemas.microsoft.com/office/drawing/2014/main" id="{5B08500C-9DE4-414D-1886-E07F600005C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9154185" y="1993080"/>
            <a:ext cx="1873200" cy="62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65938" y="2671762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</a:t>
            </a: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 Processor: Intel Core i3 or higher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</a:t>
            </a: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 RAM: Minimum 4 GB (8 GB recommended)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</a:t>
            </a: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 Storage: At least 20 GB free disk space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938031" y="2539370"/>
            <a:ext cx="5183100" cy="381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</a:t>
            </a: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 Operating System: Windows / Linux / macOS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</a:t>
            </a: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 Programming Language &amp; Framework: Python with Django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Database &amp; Tools: PostgreSQL, Redis, Docker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User Profile Management Module</a:t>
            </a:r>
            <a:endParaRPr lang="en-US" dirty="0"/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AI Recommendation Module</a:t>
            </a:r>
            <a:endParaRPr lang="en-US" dirty="0"/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Nutrition Analysis Module</a:t>
            </a:r>
            <a:endParaRPr lang="en-US" dirty="0"/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4. Grocery Package Management Module</a:t>
            </a:r>
            <a:endParaRPr lang="en-US" dirty="0"/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5. Recipe and Meal Guidance Module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484909" y="1908752"/>
            <a:ext cx="706420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lnSpc>
                <a:spcPct val="100000"/>
              </a:lnSpc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1.Collects user details such as age, gender, height, weight, and BMI.</a:t>
            </a:r>
          </a:p>
          <a:p>
            <a:pPr marL="0" lvl="0" indent="0" algn="just">
              <a:lnSpc>
                <a:spcPct val="100000"/>
              </a:lnSpc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2.Stores information about medical conditions 	like diabetes,  hypertension,      etc.</a:t>
            </a:r>
          </a:p>
          <a:p>
            <a:pPr marL="0" lvl="0" indent="0" algn="just">
              <a:lnSpc>
                <a:spcPct val="100000"/>
              </a:lnSpc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3.Records dietary preferences</a:t>
            </a:r>
          </a:p>
          <a:p>
            <a:pPr marL="0" lvl="0" indent="0" algn="just">
              <a:lnSpc>
                <a:spcPct val="100000"/>
              </a:lnSpc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4.Captures allergy information to prevent unsafe    recommendations.</a:t>
            </a:r>
          </a:p>
          <a:p>
            <a:pPr marL="0" lvl="0" indent="0" algn="just">
              <a:lnSpc>
                <a:spcPct val="100000"/>
              </a:lnSpc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5.Allows users to update profile data dynamically.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 smtClean="0">
                <a:solidFill>
                  <a:schemeClr val="dk1"/>
                </a:solidFill>
              </a:rPr>
              <a:t>11</a:t>
            </a:fld>
            <a:endParaRPr lang="en-US"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6668387-D27D-206B-9DFB-B5E859B8E9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6F82E6-D0AF-961B-9128-5BD97538F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787" y="2691807"/>
            <a:ext cx="4175104" cy="23546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651856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ts val="11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1.Processes user profile data to generate personalized grocery   suggestions.</a:t>
            </a:r>
          </a:p>
          <a:p>
            <a:pPr marL="0" lvl="0" indent="0">
              <a:buSzPts val="11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2.Applies rule-based logic and filtering techniques.</a:t>
            </a:r>
          </a:p>
          <a:p>
            <a:pPr marL="0" lvl="0" indent="0">
              <a:buSzPts val="11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3.Categorizes users into Normal, Special, or Premium packages.</a:t>
            </a:r>
          </a:p>
          <a:p>
            <a:pPr marL="0" lvl="0" indent="0">
              <a:buSzPts val="11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4.Performs health-based filtering (low sugar, high protein, etc.).</a:t>
            </a:r>
          </a:p>
          <a:p>
            <a:pPr marL="0" lvl="0" indent="0">
              <a:buSzPts val="11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5.Matches food items with user taste preferences.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endParaRPr lang="en-US" sz="24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C5FD72-91DD-D510-BFF7-B0398EDC2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817" y="2421083"/>
            <a:ext cx="4826266" cy="27224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7162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1.Calculates calorie requirements based on </a:t>
            </a:r>
          </a:p>
          <a:p>
            <a:pPr marL="0" lvl="0" indent="0" algn="just"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  BMI and activity level.</a:t>
            </a:r>
          </a:p>
          <a:p>
            <a:pPr marL="0" lvl="0" indent="0" algn="just"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2.Evaluates macronutrients (protein, carbs, fats).</a:t>
            </a:r>
          </a:p>
          <a:p>
            <a:pPr marL="0" lvl="0" indent="0" algn="just"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3.Analyzes micronutrients (vitamins, minerals).</a:t>
            </a:r>
          </a:p>
          <a:p>
            <a:pPr marL="0" lvl="0" indent="0" algn="just"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4.Compares nutrient intake with daily </a:t>
            </a:r>
          </a:p>
          <a:p>
            <a:pPr marL="0" lvl="0" indent="0" algn="just"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  recommended values.</a:t>
            </a:r>
          </a:p>
          <a:p>
            <a:pPr marL="0" lvl="0" indent="0" algn="just">
              <a:buSzPts val="11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5.Identifies nutritional deficiencies.</a:t>
            </a:r>
          </a:p>
          <a:p>
            <a:pPr marL="0" lvl="0" indent="0">
              <a:buSzPts val="2800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B735C1-73BA-ED8C-2C39-CC6595C5F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2488376"/>
            <a:ext cx="4388463" cy="25200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7391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ts val="11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1.Generates weekly or monthly grocery plans.</a:t>
            </a:r>
          </a:p>
          <a:p>
            <a:pPr marL="0" lvl="0" indent="0">
              <a:buSzPts val="11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2.Automatically creates structured grocery lists.</a:t>
            </a:r>
          </a:p>
          <a:p>
            <a:pPr marL="0" lvl="0" indent="0">
              <a:buSzPts val="11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3.Allows addition and removal of items.</a:t>
            </a:r>
          </a:p>
          <a:p>
            <a:pPr marL="0" lvl="0" indent="0">
              <a:buSzPts val="11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4.Suggests healthier substitutes for selected items.</a:t>
            </a:r>
          </a:p>
          <a:p>
            <a:pPr marL="0" lvl="0" indent="0">
              <a:buSzPts val="11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5.Performs basic budget estimation</a:t>
            </a:r>
          </a:p>
          <a:p>
            <a:pPr marL="0" lvl="0" indent="0">
              <a:buSzPts val="2800"/>
              <a:buNone/>
            </a:pP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B3A8C-0E06-6C78-4FCC-0855A55D9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85" y="2670464"/>
            <a:ext cx="4230618" cy="24106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2587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ts val="11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1.Suggests recipes based on selected grocery items.</a:t>
            </a:r>
          </a:p>
          <a:p>
            <a:pPr marL="0" lvl="0" indent="0">
              <a:buSzPts val="11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2.Provides step-by-step cooking instructions.</a:t>
            </a:r>
          </a:p>
          <a:p>
            <a:pPr marL="0" lvl="0" indent="0">
              <a:buSzPts val="11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3.Recommends portion sizes for balanced meals.</a:t>
            </a:r>
          </a:p>
          <a:p>
            <a:pPr marL="0" lvl="0" indent="0">
              <a:buSzPts val="11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4.Supports health-specific recipes (diabetic-friendly, low-sodium).</a:t>
            </a:r>
          </a:p>
          <a:p>
            <a:pPr marL="0" lvl="0" indent="0">
              <a:buSzPts val="1100"/>
              <a:buNone/>
            </a:pPr>
            <a:r>
              <a:rPr lang="en-GB" dirty="0">
                <a:latin typeface="Arial Narrow"/>
                <a:ea typeface="Arial Narrow"/>
                <a:cs typeface="Arial Narrow"/>
                <a:sym typeface="Arial Narrow"/>
              </a:rPr>
              <a:t>5.Reduces food waste by suggesting meals using available groceries.</a:t>
            </a: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 smtClean="0">
                <a:solidFill>
                  <a:schemeClr val="dk1"/>
                </a:solidFill>
              </a:rPr>
              <a:t>15</a:t>
            </a:fld>
            <a:endParaRPr lang="en-US"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3EDC22-3EFA-BCD1-20DC-0D8A7A468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074" y="1935582"/>
            <a:ext cx="4759036" cy="32504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AutoNum type="arabicPeriod"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Uses AI for personalized grocery planning.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AutoNum type="arabicPeriod"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Considers health conditions and dietary needs.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AutoNum type="arabicPeriod"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Provides balanced and affordable grocery suggestions.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AutoNum type="arabicPeriod"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Promotes healthier eating habits.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AutoNum type="arabicPeriod"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Reduces food waste through smart planning.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AutoNum type="arabicPeriod"/>
            </a:pPr>
            <a:endParaRPr lang="en-GB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16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GB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Develop a mobile application for easier access.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Improve AI recommendations using machine learning.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3. Integrate online grocery store ordering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GB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4. Add real-time nutrition and health tracking.</a:t>
            </a: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1018</Words>
  <Application>Microsoft Office PowerPoint</Application>
  <PresentationFormat>Widescreen</PresentationFormat>
  <Paragraphs>164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Arial</vt:lpstr>
      <vt:lpstr>Times New Roman</vt:lpstr>
      <vt:lpstr>Arial Narrow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Raghul P</cp:lastModifiedBy>
  <cp:revision>6</cp:revision>
  <dcterms:modified xsi:type="dcterms:W3CDTF">2026-03-15T07:32:26Z</dcterms:modified>
</cp:coreProperties>
</file>